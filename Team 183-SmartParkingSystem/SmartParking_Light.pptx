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3B6BF5"/>
          </a:solidFill>
          <a:ln w="12700">
            <a:solidFill>
              <a:srgbClr val="3B6BF5"/>
            </a:solidFill>
            <a:prstDash val="solid"/>
          </a:ln>
          <a:effectLst>
            <a:outerShdw sx="100000" sy="100000" kx="0" ky="0" algn="bl" rotWithShape="0" blurRad="76200" dist="25400" dir="8100000">
              <a:srgbClr val="3B6BF5">
                <a:alpha val="2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20040" y="20116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✦  Team AlgoArchitect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086600" y="201168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76200" dist="25400" dir="8100000">
              <a:srgbClr val="3B6BF5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086600" y="20116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&lt;/&gt;  DSA Hackathon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777240"/>
            <a:ext cx="4206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PARKING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320040" y="22860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Data Structures &amp; Algorithms Implementation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2788920"/>
            <a:ext cx="4114800" cy="2084832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8ECF4"/>
            </a:solidFill>
            <a:prstDash val="solid"/>
          </a:ln>
          <a:effectLst>
            <a:outerShdw sx="100000" sy="100000" kx="0" ky="0" algn="bl" rotWithShape="0" blurRad="152400" dist="38100" dir="8100000">
              <a:srgbClr val="8A94A6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2926080"/>
            <a:ext cx="292608" cy="292608"/>
          </a:xfrm>
          <a:prstGeom prst="ellipse">
            <a:avLst/>
          </a:prstGeom>
          <a:solidFill>
            <a:srgbClr val="EBF0FF"/>
          </a:solidFill>
          <a:ln w="12700">
            <a:solidFill>
              <a:srgbClr val="EBF0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926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👥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29260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Team Members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3392424"/>
            <a:ext cx="384048" cy="384048"/>
          </a:xfrm>
          <a:prstGeom prst="ellipse">
            <a:avLst/>
          </a:prstGeom>
          <a:solidFill>
            <a:srgbClr val="3B6BF5"/>
          </a:solidFill>
          <a:ln w="12700">
            <a:solidFill>
              <a:srgbClr val="3B6B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392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AK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78408" y="336499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Aakanksha Kulkarni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331720" y="3392424"/>
            <a:ext cx="384048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31720" y="3392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807208" y="336499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Shravani Raut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3913632"/>
            <a:ext cx="384048" cy="38404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913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78408" y="388620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Ekta Kundnani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331720" y="3913632"/>
            <a:ext cx="384048" cy="38404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31720" y="3913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807208" y="388620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Rajasee Thakur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17720" y="749808"/>
            <a:ext cx="208483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8ECF4"/>
            </a:solidFill>
            <a:prstDash val="solid"/>
          </a:ln>
          <a:effectLst>
            <a:outerShdw sx="100000" sy="100000" kx="0" ky="0" algn="bl" rotWithShape="0" blurRad="152400" dist="38100" dir="8100000">
              <a:srgbClr val="8A94A6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950976"/>
            <a:ext cx="347472" cy="347472"/>
          </a:xfrm>
          <a:prstGeom prst="ellipse">
            <a:avLst/>
          </a:prstGeom>
          <a:solidFill>
            <a:srgbClr val="EBF0FF"/>
          </a:solidFill>
          <a:ln w="12700">
            <a:solidFill>
              <a:srgbClr val="EBF0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9509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🅿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193792" y="84124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Slot Management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193792" y="1133856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Min-Heap for optimal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assignment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903720" y="749808"/>
            <a:ext cx="208483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8ECF4"/>
            </a:solidFill>
            <a:prstDash val="solid"/>
          </a:ln>
          <a:effectLst>
            <a:outerShdw sx="100000" sy="100000" kx="0" ky="0" algn="bl" rotWithShape="0" blurRad="152400" dist="38100" dir="8100000">
              <a:srgbClr val="8A94A6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040880" y="950976"/>
            <a:ext cx="347472" cy="347472"/>
          </a:xfrm>
          <a:prstGeom prst="ellipse">
            <a:avLst/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40880" y="9509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🔍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479792" y="84124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Vehicle Lookup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479792" y="1133856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HashMap O(1) search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17720" y="1783080"/>
            <a:ext cx="208483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8ECF4"/>
            </a:solidFill>
            <a:prstDash val="solid"/>
          </a:ln>
          <a:effectLst>
            <a:outerShdw sx="100000" sy="100000" kx="0" ky="0" algn="bl" rotWithShape="0" blurRad="152400" dist="38100" dir="8100000">
              <a:srgbClr val="8A94A6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1984248"/>
            <a:ext cx="347472" cy="347472"/>
          </a:xfrm>
          <a:prstGeom prst="ellipse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19842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↩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193792" y="18745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Undo Feature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193792" y="216712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Stack LIFO operations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903720" y="1783080"/>
            <a:ext cx="208483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8ECF4"/>
            </a:solidFill>
            <a:prstDash val="solid"/>
          </a:ln>
          <a:effectLst>
            <a:outerShdw sx="100000" sy="100000" kx="0" ky="0" algn="bl" rotWithShape="0" blurRad="152400" dist="38100" dir="8100000">
              <a:srgbClr val="8A94A6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040880" y="1984248"/>
            <a:ext cx="347472" cy="347472"/>
          </a:xfrm>
          <a:prstGeom prst="ellipse">
            <a:avLst/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040880" y="19842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⇅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479792" y="18745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Sorting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479792" y="216712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Merge Sort O(n log n)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617720" y="2788920"/>
            <a:ext cx="4370832" cy="1417320"/>
          </a:xfrm>
          <a:prstGeom prst="roundRect">
            <a:avLst>
              <a:gd name="adj" fmla="val 7742"/>
            </a:avLst>
          </a:prstGeom>
          <a:solidFill>
            <a:srgbClr val="3B6BF5"/>
          </a:solidFill>
          <a:ln w="12700">
            <a:solidFill>
              <a:srgbClr val="3B6BF5"/>
            </a:solidFill>
            <a:prstDash val="solid"/>
          </a:ln>
          <a:effectLst>
            <a:outerShdw sx="100000" sy="100000" kx="0" ky="0" algn="bl" rotWithShape="0" blurRad="152400" dist="38100" dir="8100000">
              <a:srgbClr val="8A94A6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4754880" y="285292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📈  DSA Performance Metrics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709160" y="324612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6</a:t>
            </a:r>
            <a:endParaRPr lang="en-US" sz="2600" dirty="0"/>
          </a:p>
        </p:txBody>
      </p:sp>
      <p:sp>
        <p:nvSpPr>
          <p:cNvPr id="47" name="Text 45"/>
          <p:cNvSpPr/>
          <p:nvPr/>
        </p:nvSpPr>
        <p:spPr>
          <a:xfrm>
            <a:off x="4709160" y="37490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7D7FF"/>
                </a:solidFill>
              </a:rPr>
              <a:t>Data Structures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172200" y="324612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O(log n)</a:t>
            </a:r>
            <a:endParaRPr lang="en-US" sz="2600" dirty="0"/>
          </a:p>
        </p:txBody>
      </p:sp>
      <p:sp>
        <p:nvSpPr>
          <p:cNvPr id="49" name="Text 47"/>
          <p:cNvSpPr/>
          <p:nvPr/>
        </p:nvSpPr>
        <p:spPr>
          <a:xfrm>
            <a:off x="6172200" y="37490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7D7FF"/>
                </a:solidFill>
              </a:rPr>
              <a:t>Search Complexity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635240" y="324612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O(1)</a:t>
            </a:r>
            <a:endParaRPr lang="en-US" sz="2600" dirty="0"/>
          </a:p>
        </p:txBody>
      </p:sp>
      <p:sp>
        <p:nvSpPr>
          <p:cNvPr id="51" name="Text 49"/>
          <p:cNvSpPr/>
          <p:nvPr/>
        </p:nvSpPr>
        <p:spPr>
          <a:xfrm>
            <a:off x="7635240" y="37490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7D7FF"/>
                </a:solidFill>
              </a:rPr>
              <a:t>Lookup Time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498080" y="29260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FFFFFF">
                    <a:alpha val="15000"/>
                  </a:srgbClr>
                </a:solidFill>
              </a:rPr>
              <a:t>P</a:t>
            </a:r>
            <a:endParaRPr lang="en-US" sz="1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3B6BF5"/>
          </a:solidFill>
          <a:ln w="12700">
            <a:solidFill>
              <a:srgbClr val="3B6BF5"/>
            </a:solidFill>
            <a:prstDash val="solid"/>
          </a:ln>
          <a:effectLst>
            <a:outerShdw sx="100000" sy="100000" kx="0" ky="0" algn="bl" rotWithShape="0" blurRad="76200" dist="25400" dir="8100000">
              <a:srgbClr val="3B6BF5">
                <a:alpha val="2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20040" y="1828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✦  Team AlgoArchitect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086600" y="182880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76200" dist="25400" dir="8100000">
              <a:srgbClr val="3B6BF5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086600" y="1828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&lt;/&gt;  DSA Hackathon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194560" y="18288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5568"/>
                </a:solidFill>
              </a:rPr>
              <a:t>Project Overview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68580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DSA?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20040" y="129844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</a:rPr>
              <a:t>Real-world problems need optimal data structures — not just arrays.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737360"/>
            <a:ext cx="397764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52400" dist="38100" dir="8100000">
              <a:srgbClr val="8A94A6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737360"/>
            <a:ext cx="3977640" cy="438912"/>
          </a:xfrm>
          <a:prstGeom prst="roundRect">
            <a:avLst>
              <a:gd name="adj" fmla="val 25000"/>
            </a:avLst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737360"/>
            <a:ext cx="3703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❌  Without DSA — The Problems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2860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•  Manual O(n) slot scan every time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27432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•  No handling when lot is full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32004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•  No undo if wrong vehicle entered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6576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•  Linear search wastes time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1148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•  No ordered view by entry time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46320" y="1737360"/>
            <a:ext cx="397764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52400" dist="38100" dir="8100000">
              <a:srgbClr val="8A94A6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1737360"/>
            <a:ext cx="3977640" cy="438912"/>
          </a:xfrm>
          <a:prstGeom prst="roundRect">
            <a:avLst>
              <a:gd name="adj" fmla="val 25000"/>
            </a:avLst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1737360"/>
            <a:ext cx="3703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</a:rPr>
              <a:t>✅  With DSA — The Solutions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83480" y="22860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•  Min-Heap → O(log n) nearest slot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83480" y="27432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•  Queue → FIFO waiting list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83480" y="32004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•  Stack → Undo last action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83480" y="36576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•  Binary Search → O(log n) lookup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83480" y="41148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•  Merge Sort → sorted entry view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315968" y="29260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B6BF5"/>
                </a:solidFill>
              </a:rPr>
              <a:t>→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3B6BF5"/>
          </a:solidFill>
          <a:ln w="12700">
            <a:solidFill>
              <a:srgbClr val="3B6BF5"/>
            </a:solidFill>
            <a:prstDash val="solid"/>
          </a:ln>
          <a:effectLst>
            <a:outerShdw sx="100000" sy="100000" kx="0" ky="0" algn="bl" rotWithShape="0" blurRad="76200" dist="25400" dir="8100000">
              <a:srgbClr val="3B6BF5">
                <a:alpha val="2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20040" y="1828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✦  Team AlgoArchitect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086600" y="182880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76200" dist="25400" dir="8100000">
              <a:srgbClr val="3B6BF5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086600" y="1828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&lt;/&gt;  DSA Hackathon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194560" y="18288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5568"/>
                </a:solidFill>
              </a:rPr>
              <a:t>DSA Concepts at a Glance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68580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Data Structures Used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274320" y="1280160"/>
            <a:ext cx="859536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8ECF4"/>
            </a:solidFill>
            <a:prstDash val="solid"/>
          </a:ln>
          <a:effectLst>
            <a:outerShdw sx="100000" sy="100000" kx="0" ky="0" algn="bl" rotWithShape="0" blurRad="152400" dist="38100" dir="8100000">
              <a:srgbClr val="8A94A6">
                <a:alpha val="12000"/>
              </a:srgbClr>
            </a:outerShdw>
          </a:effectLst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8412480" cy="3383280"/>
        </p:xfrm>
        <a:graphic>
          <a:graphicData uri="http://schemas.openxmlformats.org/drawingml/2006/table">
            <a:tbl>
              <a:tblPr/>
              <a:tblGrid>
                <a:gridCol w="365760"/>
                <a:gridCol w="2194560"/>
                <a:gridCol w="2926080"/>
                <a:gridCol w="1737360"/>
                <a:gridCol w="914400"/>
              </a:tblGrid>
              <a:tr h="4846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6B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Data Structure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6B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6B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Time Complexity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6B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Space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6BF5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Min-Heap (PriorityQueue)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Assign nearest available slot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B6BF5"/>
                          </a:solidFill>
                        </a:rPr>
                        <a:t>O(log n)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</a:rPr>
                        <a:t>O(n)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HashMap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O(1) vehicle lookup &amp; storage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B6BF5"/>
                          </a:solidFill>
                        </a:rPr>
                        <a:t>O(1) avg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</a:rPr>
                        <a:t>O(n)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Stack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Undo last parking action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B6BF5"/>
                          </a:solidFill>
                        </a:rPr>
                        <a:t>O(1)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</a:rPr>
                        <a:t>O(n)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Queue (LinkedList)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Waiting list when full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B6BF5"/>
                          </a:solidFill>
                        </a:rPr>
                        <a:t>O(1)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</a:rPr>
                        <a:t>O(n)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Binary Search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Search vehicle in sorted log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B6BF5"/>
                          </a:solidFill>
                        </a:rPr>
                        <a:t>O(log n)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</a:rPr>
                        <a:t>O(1)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Merge Sort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Sort vehicles by entry time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B6BF5"/>
                          </a:solidFill>
                        </a:rPr>
                        <a:t>O(n log n)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</a:rPr>
                        <a:t>O(n)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3B6BF5"/>
          </a:solidFill>
          <a:ln w="12700">
            <a:solidFill>
              <a:srgbClr val="3B6BF5"/>
            </a:solidFill>
            <a:prstDash val="solid"/>
          </a:ln>
          <a:effectLst>
            <a:outerShdw sx="100000" sy="100000" kx="0" ky="0" algn="bl" rotWithShape="0" blurRad="76200" dist="25400" dir="8100000">
              <a:srgbClr val="3B6BF5">
                <a:alpha val="2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20040" y="1828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✦  Team AlgoArchitect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086600" y="182880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76200" dist="25400" dir="8100000">
              <a:srgbClr val="3B6BF5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086600" y="1828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&lt;/&gt;  DSA Hackathon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194560" y="18288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5568"/>
                </a:solidFill>
              </a:rPr>
              <a:t>Deep Dive — Structures 1 &amp; 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68580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Min-Heap  &amp;  HashMap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274320" y="1298448"/>
            <a:ext cx="416052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8ECF4"/>
            </a:solidFill>
            <a:prstDash val="solid"/>
          </a:ln>
          <a:effectLst>
            <a:outerShdw sx="100000" sy="100000" kx="0" ky="0" algn="bl" rotWithShape="0" blurRad="152400" dist="38100" dir="8100000">
              <a:srgbClr val="8A94A6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298448"/>
            <a:ext cx="4160520" cy="475488"/>
          </a:xfrm>
          <a:prstGeom prst="roundRect">
            <a:avLst>
              <a:gd name="adj" fmla="val 23077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" y="1371600"/>
            <a:ext cx="329184" cy="329184"/>
          </a:xfrm>
          <a:prstGeom prst="ellipse">
            <a:avLst/>
          </a:prstGeom>
          <a:solidFill>
            <a:srgbClr val="3B6BF5"/>
          </a:solidFill>
          <a:ln w="12700">
            <a:solidFill>
              <a:srgbClr val="3B6B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1371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🅿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137160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6BF5"/>
                </a:solidFill>
              </a:rPr>
              <a:t>MIN-HEAP (PriorityQueue)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192024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94A6"/>
                </a:solidFill>
              </a:rPr>
              <a:t>Class: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783080" y="19202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PriorityQueue&lt;Integer&gt;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235000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94A6"/>
                </a:solidFill>
              </a:rPr>
              <a:t>Used in: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783080" y="235000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parkVehicle()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277977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94A6"/>
                </a:solidFill>
              </a:rPr>
              <a:t>Insert: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783080" y="277977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availableSlots.add(i)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20954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94A6"/>
                </a:solidFill>
              </a:rPr>
              <a:t>Get Best: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783080" y="320954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availableSlots.poll()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363931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94A6"/>
                </a:solidFill>
              </a:rPr>
              <a:t>Time: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783080" y="363931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6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O(log n) per op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06908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94A6"/>
                </a:solidFill>
              </a:rPr>
              <a:t>Space: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783080" y="40690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6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49884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94A6"/>
                </a:solidFill>
              </a:rPr>
              <a:t>Benefit: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783080" y="449884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nearest slot first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09160" y="1298448"/>
            <a:ext cx="416052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8ECF4"/>
            </a:solidFill>
            <a:prstDash val="solid"/>
          </a:ln>
          <a:effectLst>
            <a:outerShdw sx="100000" sy="100000" kx="0" ky="0" algn="bl" rotWithShape="0" blurRad="152400" dist="38100" dir="8100000">
              <a:srgbClr val="8A94A6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09160" y="1298448"/>
            <a:ext cx="4160520" cy="475488"/>
          </a:xfrm>
          <a:prstGeom prst="roundRect">
            <a:avLst>
              <a:gd name="adj" fmla="val 23077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73752" y="1371600"/>
            <a:ext cx="329184" cy="32918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73752" y="1371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🔍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303520" y="137160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</a:rPr>
              <a:t>HASHMAP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892040" y="192024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94A6"/>
                </a:solidFill>
              </a:rPr>
              <a:t>Type: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17920" y="19202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HashMap&lt;String, ParkingRecord&gt;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92040" y="235000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94A6"/>
                </a:solidFill>
              </a:rPr>
              <a:t>Used in: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17920" y="235000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parkVehicle(), removeVehicle()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92040" y="277977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94A6"/>
                </a:solidFill>
              </a:rPr>
              <a:t>Put: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17920" y="277977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vehicleMap.put(vNo, rec)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892040" y="320954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94A6"/>
                </a:solidFill>
              </a:rPr>
              <a:t>Get: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217920" y="320954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vehicleMap.get(vehicleNo)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892040" y="363931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94A6"/>
                </a:solidFill>
              </a:rPr>
              <a:t>Time: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217920" y="363931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average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892040" y="406908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94A6"/>
                </a:solidFill>
              </a:rPr>
              <a:t>Space: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217920" y="40690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892040" y="449884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94A6"/>
                </a:solidFill>
              </a:rPr>
              <a:t>Benefit: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217920" y="449884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lookup, no scan needed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3B6BF5"/>
          </a:solidFill>
          <a:ln w="12700">
            <a:solidFill>
              <a:srgbClr val="3B6BF5"/>
            </a:solidFill>
            <a:prstDash val="solid"/>
          </a:ln>
          <a:effectLst>
            <a:outerShdw sx="100000" sy="100000" kx="0" ky="0" algn="bl" rotWithShape="0" blurRad="76200" dist="25400" dir="8100000">
              <a:srgbClr val="3B6BF5">
                <a:alpha val="2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20040" y="1828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✦  Team AlgoArchitect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086600" y="182880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76200" dist="25400" dir="8100000">
              <a:srgbClr val="3B6BF5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086600" y="1828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&lt;/&gt;  DSA Hackathon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194560" y="18288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5568"/>
                </a:solidFill>
              </a:rPr>
              <a:t>Deep Dive — Structures 3 &amp; 4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68580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 &amp;  Queue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274320" y="1298448"/>
            <a:ext cx="416052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8ECF4"/>
            </a:solidFill>
            <a:prstDash val="solid"/>
          </a:ln>
          <a:effectLst>
            <a:outerShdw sx="100000" sy="100000" kx="0" ky="0" algn="bl" rotWithShape="0" blurRad="152400" dist="38100" dir="8100000">
              <a:srgbClr val="8A94A6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298448"/>
            <a:ext cx="4160520" cy="475488"/>
          </a:xfrm>
          <a:prstGeom prst="roundRect">
            <a:avLst>
              <a:gd name="adj" fmla="val 23077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" y="1371600"/>
            <a:ext cx="329184" cy="32918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1371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↩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137160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</a:rPr>
              <a:t>STACK — Undo Feature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192024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94A6"/>
                </a:solidFill>
              </a:rPr>
              <a:t>Type: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783080" y="19202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Stack&lt;ParkingRecord&gt;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235000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94A6"/>
                </a:solidFill>
              </a:rPr>
              <a:t>Push: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783080" y="235000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undoStack.push(record)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277977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94A6"/>
                </a:solidFill>
              </a:rPr>
              <a:t>Pop: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783080" y="277977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undoStack.pop()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20954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94A6"/>
                </a:solidFill>
              </a:rPr>
              <a:t>Concept: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783080" y="320954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LIFO — Last In, First Out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363931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94A6"/>
                </a:solidFill>
              </a:rPr>
              <a:t>Time: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783080" y="363931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push &amp; pop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06908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94A6"/>
                </a:solidFill>
              </a:rPr>
              <a:t>Space: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783080" y="40690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49884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94A6"/>
                </a:solidFill>
              </a:rPr>
              <a:t>Benefit: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783080" y="449884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Ctrl+Z style undo for parking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09160" y="1298448"/>
            <a:ext cx="416052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8ECF4"/>
            </a:solidFill>
            <a:prstDash val="solid"/>
          </a:ln>
          <a:effectLst>
            <a:outerShdw sx="100000" sy="100000" kx="0" ky="0" algn="bl" rotWithShape="0" blurRad="152400" dist="38100" dir="8100000">
              <a:srgbClr val="8A94A6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09160" y="1298448"/>
            <a:ext cx="4160520" cy="475488"/>
          </a:xfrm>
          <a:prstGeom prst="roundRect">
            <a:avLst>
              <a:gd name="adj" fmla="val 23077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73752" y="1371600"/>
            <a:ext cx="329184" cy="32918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73752" y="1371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⏳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303520" y="137160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</a:rPr>
              <a:t>QUEUE — Waiting List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892040" y="192024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94A6"/>
                </a:solidFill>
              </a:rPr>
              <a:t>Type: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17920" y="19202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Queue&lt;String&gt; (LinkedList)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92040" y="235000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94A6"/>
                </a:solidFill>
              </a:rPr>
              <a:t>Enqueue: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17920" y="235000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waitingQueue.add(vehicleNo)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92040" y="277977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94A6"/>
                </a:solidFill>
              </a:rPr>
              <a:t>Dequeue: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17920" y="277977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waitingQueue.poll()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892040" y="320954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94A6"/>
                </a:solidFill>
              </a:rPr>
              <a:t>Concept: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217920" y="320954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 — First In, First Out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892040" y="363931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94A6"/>
                </a:solidFill>
              </a:rPr>
              <a:t>Time: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217920" y="363931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enqueue &amp; dequeue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892040" y="406908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94A6"/>
                </a:solidFill>
              </a:rPr>
              <a:t>Space: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217920" y="40690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892040" y="449884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94A6"/>
                </a:solidFill>
              </a:rPr>
              <a:t>Benefit: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217920" y="449884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waiting — no skipping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3B6BF5"/>
          </a:solidFill>
          <a:ln w="12700">
            <a:solidFill>
              <a:srgbClr val="3B6BF5"/>
            </a:solidFill>
            <a:prstDash val="solid"/>
          </a:ln>
          <a:effectLst>
            <a:outerShdw sx="100000" sy="100000" kx="0" ky="0" algn="bl" rotWithShape="0" blurRad="76200" dist="25400" dir="8100000">
              <a:srgbClr val="3B6BF5">
                <a:alpha val="2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20040" y="1828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✦  Team AlgoArchitect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086600" y="182880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76200" dist="25400" dir="8100000">
              <a:srgbClr val="3B6BF5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086600" y="1828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&lt;/&gt;  DSA Hackathon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194560" y="18288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5568"/>
                </a:solidFill>
              </a:rPr>
              <a:t>Deep Dive — Structures 5 &amp; 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68580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Search  &amp;  Merge Sort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274320" y="1298448"/>
            <a:ext cx="416052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8ECF4"/>
            </a:solidFill>
            <a:prstDash val="solid"/>
          </a:ln>
          <a:effectLst>
            <a:outerShdw sx="100000" sy="100000" kx="0" ky="0" algn="bl" rotWithShape="0" blurRad="152400" dist="38100" dir="8100000">
              <a:srgbClr val="8A94A6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298448"/>
            <a:ext cx="4160520" cy="475488"/>
          </a:xfrm>
          <a:prstGeom prst="roundRect">
            <a:avLst>
              <a:gd name="adj" fmla="val 23077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" y="1371600"/>
            <a:ext cx="329184" cy="32918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1371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🔎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137160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BINARY SEARCH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192024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94A6"/>
                </a:solidFill>
              </a:rPr>
              <a:t>Method: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783080" y="19202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Collections.binarySearch()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235000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94A6"/>
                </a:solidFill>
              </a:rPr>
              <a:t>On: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783080" y="235000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sortedVehicleLog (ArrayList)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277977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94A6"/>
                </a:solidFill>
              </a:rPr>
              <a:t>Used in: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783080" y="277977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searchVehicle(), insertSorted()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20954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94A6"/>
                </a:solidFill>
              </a:rPr>
              <a:t>Pre-req: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783080" y="320954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stays sorted always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363931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94A6"/>
                </a:solidFill>
              </a:rPr>
              <a:t>Time: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783080" y="363931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O(log n) search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06908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94A6"/>
                </a:solidFill>
              </a:rPr>
              <a:t>Space: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783080" y="40690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extra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49884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94A6"/>
                </a:solidFill>
              </a:rPr>
              <a:t>vs Linear: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783080" y="449884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 → O(log n) speedup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09160" y="1298448"/>
            <a:ext cx="416052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8ECF4"/>
            </a:solidFill>
            <a:prstDash val="solid"/>
          </a:ln>
          <a:effectLst>
            <a:outerShdw sx="100000" sy="100000" kx="0" ky="0" algn="bl" rotWithShape="0" blurRad="152400" dist="38100" dir="8100000">
              <a:srgbClr val="8A94A6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09160" y="1298448"/>
            <a:ext cx="4160520" cy="475488"/>
          </a:xfrm>
          <a:prstGeom prst="roundRect">
            <a:avLst>
              <a:gd name="adj" fmla="val 23077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73752" y="1371600"/>
            <a:ext cx="329184" cy="329184"/>
          </a:xfrm>
          <a:prstGeom prst="ellipse">
            <a:avLst/>
          </a:prstGeom>
          <a:solidFill>
            <a:srgbClr val="3B6BF5"/>
          </a:solidFill>
          <a:ln w="12700">
            <a:solidFill>
              <a:srgbClr val="3B6BF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73752" y="1371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⇅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303520" y="137160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6BF5"/>
                </a:solidFill>
              </a:rPr>
              <a:t>MERGE SORT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892040" y="192024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94A6"/>
                </a:solidFill>
              </a:rPr>
              <a:t>Methods: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17920" y="19202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mergeSort() + merge()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92040" y="235000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94A6"/>
                </a:solidFill>
              </a:rPr>
              <a:t>On: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17920" y="235000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ArrayList&lt;ParkingRecord&gt;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92040" y="277977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94A6"/>
                </a:solidFill>
              </a:rPr>
              <a:t>Sort by: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17920" y="277977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entryTime (ascending)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892040" y="320954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94A6"/>
                </a:solidFill>
              </a:rPr>
              <a:t>Strategy: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217920" y="320954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&amp; Conquer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892040" y="363931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94A6"/>
                </a:solidFill>
              </a:rPr>
              <a:t>Time: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217920" y="363931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6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 log n)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892040" y="406908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94A6"/>
                </a:solidFill>
              </a:rPr>
              <a:t>Space: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217920" y="40690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6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 auxiliary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892040" y="449884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94A6"/>
                </a:solidFill>
              </a:rPr>
              <a:t>Benefit: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217920" y="449884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Stable, efficient for large 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3B6BF5"/>
          </a:solidFill>
          <a:ln w="12700">
            <a:solidFill>
              <a:srgbClr val="3B6BF5"/>
            </a:solidFill>
            <a:prstDash val="solid"/>
          </a:ln>
          <a:effectLst>
            <a:outerShdw sx="100000" sy="100000" kx="0" ky="0" algn="bl" rotWithShape="0" blurRad="76200" dist="25400" dir="8100000">
              <a:srgbClr val="3B6BF5">
                <a:alpha val="2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20040" y="1828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✦  Team AlgoArchitect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086600" y="182880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76200" dist="25400" dir="8100000">
              <a:srgbClr val="3B6BF5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086600" y="1828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&lt;/&gt;  DSA Hackathon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194560" y="18288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5568"/>
                </a:solidFill>
              </a:rPr>
              <a:t>Complexity Comparison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68580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vs After DSA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274320" y="1298448"/>
            <a:ext cx="859536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8ECF4"/>
            </a:solidFill>
            <a:prstDash val="solid"/>
          </a:ln>
          <a:effectLst>
            <a:outerShdw sx="100000" sy="100000" kx="0" ky="0" algn="bl" rotWithShape="0" blurRad="152400" dist="38100" dir="8100000">
              <a:srgbClr val="8A94A6">
                <a:alpha val="12000"/>
              </a:srgbClr>
            </a:outerShdw>
          </a:effectLst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8412480" cy="3383280"/>
        </p:xfrm>
        <a:graphic>
          <a:graphicData uri="http://schemas.openxmlformats.org/drawingml/2006/table">
            <a:tbl>
              <a:tblPr/>
              <a:tblGrid>
                <a:gridCol w="2377440"/>
                <a:gridCol w="1828800"/>
                <a:gridCol w="1828800"/>
                <a:gridCol w="2377440"/>
              </a:tblGrid>
              <a:tr h="4846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Operation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6B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Without DSA ❌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With DSA ✅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Structure Used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Slot Assignment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</a:rPr>
                        <a:t>O(n) scan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</a:rPr>
                        <a:t>O(log n)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6BF5"/>
                          </a:solidFill>
                        </a:rPr>
                        <a:t>Min-Heap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Vehicle Lookup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</a:rPr>
                        <a:t>O(n) scan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</a:rPr>
                        <a:t>O(1) avg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6BF5"/>
                          </a:solidFill>
                        </a:rPr>
                        <a:t>HashMap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Undo Action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</a:rPr>
                        <a:t>N/A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</a:rPr>
                        <a:t>O(1)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6BF5"/>
                          </a:solidFill>
                        </a:rPr>
                        <a:t>Stack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Waiting List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</a:rPr>
                        <a:t>N/A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</a:rPr>
                        <a:t>O(1)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6BF5"/>
                          </a:solidFill>
                        </a:rPr>
                        <a:t>Queue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Vehicle Search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</a:rPr>
                        <a:t>O(n) scan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</a:rPr>
                        <a:t>O(log n)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6BF5"/>
                          </a:solidFill>
                        </a:rPr>
                        <a:t>Binary Search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Sort by Time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</a:rPr>
                        <a:t>O(n²)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</a:rPr>
                        <a:t>O(n log n)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6BF5"/>
                          </a:solidFill>
                        </a:rPr>
                        <a:t>Merge Sort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3B6BF5"/>
          </a:solidFill>
          <a:ln w="12700">
            <a:solidFill>
              <a:srgbClr val="3B6BF5"/>
            </a:solidFill>
            <a:prstDash val="solid"/>
          </a:ln>
          <a:effectLst>
            <a:outerShdw sx="100000" sy="100000" kx="0" ky="0" algn="bl" rotWithShape="0" blurRad="76200" dist="25400" dir="8100000">
              <a:srgbClr val="3B6BF5">
                <a:alpha val="2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20040" y="1828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✦  Team AlgoArchitect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086600" y="182880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76200" dist="25400" dir="8100000">
              <a:srgbClr val="3B6BF5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086600" y="1828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&lt;/&gt;  DSA Hackathon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194560" y="18288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5568"/>
                </a:solidFill>
              </a:rPr>
              <a:t>Key Takeaways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6858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 Stands Out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20040" y="123444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Every feature is backed by a deliberate DSA choice.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664208"/>
            <a:ext cx="2697480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E8ECF4"/>
            </a:solidFill>
            <a:prstDash val="solid"/>
          </a:ln>
          <a:effectLst>
            <a:outerShdw sx="100000" sy="100000" kx="0" ky="0" algn="bl" rotWithShape="0" blurRad="152400" dist="38100" dir="8100000">
              <a:srgbClr val="8A94A6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" y="1828800"/>
            <a:ext cx="475488" cy="475488"/>
          </a:xfrm>
          <a:prstGeom prst="ellipse">
            <a:avLst/>
          </a:prstGeom>
          <a:solidFill>
            <a:srgbClr val="EBF0FF"/>
          </a:solidFill>
          <a:ln w="12700">
            <a:solidFill>
              <a:srgbClr val="EBF0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18288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24128" y="18105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6BF5"/>
                </a:solidFill>
              </a:rPr>
              <a:t>Speed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8912" y="237744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O(log n) slot assignment via Min-Heap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172968" y="1664208"/>
            <a:ext cx="2697480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E8ECF4"/>
            </a:solidFill>
            <a:prstDash val="solid"/>
          </a:ln>
          <a:effectLst>
            <a:outerShdw sx="100000" sy="100000" kx="0" ky="0" algn="bl" rotWithShape="0" blurRad="152400" dist="38100" dir="8100000">
              <a:srgbClr val="8A94A6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37560" y="1828800"/>
            <a:ext cx="475488" cy="475488"/>
          </a:xfrm>
          <a:prstGeom prst="ellipse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18288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↩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922776" y="18105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</a:rPr>
              <a:t>Reliability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37560" y="237744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Stack Undo — recover any wrong entry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71616" y="1664208"/>
            <a:ext cx="2697480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E8ECF4"/>
            </a:solidFill>
            <a:prstDash val="solid"/>
          </a:ln>
          <a:effectLst>
            <a:outerShdw sx="100000" sy="100000" kx="0" ky="0" algn="bl" rotWithShape="0" blurRad="152400" dist="38100" dir="8100000">
              <a:srgbClr val="8A94A6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36208" y="1828800"/>
            <a:ext cx="475488" cy="475488"/>
          </a:xfrm>
          <a:prstGeom prst="ellipse">
            <a:avLst/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36208" y="18288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⏳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821424" y="18105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</a:rPr>
              <a:t>Fairness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36208" y="237744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Queue ensures first-come, first-served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154680"/>
            <a:ext cx="2697480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E8ECF4"/>
            </a:solidFill>
            <a:prstDash val="solid"/>
          </a:ln>
          <a:effectLst>
            <a:outerShdw sx="100000" sy="100000" kx="0" ky="0" algn="bl" rotWithShape="0" blurRad="152400" dist="38100" dir="8100000">
              <a:srgbClr val="8A94A6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38912" y="3319272"/>
            <a:ext cx="475488" cy="475488"/>
          </a:xfrm>
          <a:prstGeom prst="ellipse">
            <a:avLst/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3319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24128" y="330098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Search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38912" y="3867912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Binary Search: O(n) → O(log n)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172968" y="3154680"/>
            <a:ext cx="2697480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E8ECF4"/>
            </a:solidFill>
            <a:prstDash val="solid"/>
          </a:ln>
          <a:effectLst>
            <a:outerShdw sx="100000" sy="100000" kx="0" ky="0" algn="bl" rotWithShape="0" blurRad="152400" dist="38100" dir="8100000">
              <a:srgbClr val="8A94A6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337560" y="3319272"/>
            <a:ext cx="475488" cy="475488"/>
          </a:xfrm>
          <a:prstGeom prst="ellipse">
            <a:avLst/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3319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3922776" y="330098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</a:rPr>
              <a:t>Analytics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337560" y="3867912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Merge Sort orders vehicles by entry time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071616" y="3154680"/>
            <a:ext cx="2697480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E8ECF4"/>
            </a:solidFill>
            <a:prstDash val="solid"/>
          </a:ln>
          <a:effectLst>
            <a:outerShdw sx="100000" sy="100000" kx="0" ky="0" algn="bl" rotWithShape="0" blurRad="152400" dist="38100" dir="8100000">
              <a:srgbClr val="8A94A6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236208" y="3319272"/>
            <a:ext cx="475488" cy="475488"/>
          </a:xfrm>
          <a:prstGeom prst="ellipse">
            <a:avLst/>
          </a:prstGeom>
          <a:solidFill>
            <a:srgbClr val="EBF0FF"/>
          </a:solidFill>
          <a:ln w="12700">
            <a:solidFill>
              <a:srgbClr val="EBF0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36208" y="3319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🏆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821424" y="330098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6BF5"/>
                </a:solidFill>
              </a:rPr>
              <a:t>Scalable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236208" y="3867912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All structures work from 10 to 10,000 slots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74320" y="4617720"/>
            <a:ext cx="8595360" cy="347472"/>
          </a:xfrm>
          <a:prstGeom prst="roundRect">
            <a:avLst>
              <a:gd name="adj" fmla="val 21053"/>
            </a:avLst>
          </a:prstGeom>
          <a:solidFill>
            <a:srgbClr val="EBF0FF"/>
          </a:solidFill>
          <a:ln w="12700">
            <a:solidFill>
              <a:srgbClr val="D0DC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461772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6BF5"/>
                </a:solidFill>
              </a:rPr>
              <a:t>AlgoArchitect  ·  Smart Parking System  ·  DSA Hackathon 2026  ·  Aakanksha · Shravani · Ekta · Rajasee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Parking System — DSA Presentation</dc:title>
  <dc:subject>PptxGenJS Presentation</dc:subject>
  <dc:creator>PptxGenJS</dc:creator>
  <cp:lastModifiedBy>PptxGenJS</cp:lastModifiedBy>
  <cp:revision>1</cp:revision>
  <dcterms:created xsi:type="dcterms:W3CDTF">2026-04-22T10:34:41Z</dcterms:created>
  <dcterms:modified xsi:type="dcterms:W3CDTF">2026-04-22T10:34:41Z</dcterms:modified>
</cp:coreProperties>
</file>